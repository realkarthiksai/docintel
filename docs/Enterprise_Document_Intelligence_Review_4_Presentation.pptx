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320040"/>
            <a:ext cx="82296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Enterprise Document Intelligence &amp; Workflow Automation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2563EB"/>
                </a:solidFill>
              </a:defRPr>
            </a:pPr>
            <a:r>
              <a:t>Comprehensive Final Defense (Reviews 1, 2, 3, &amp; 4)</a:t>
            </a:r>
            <a:br/>
            <a:r>
              <a:t>Presented by: Final Year Project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Domain: Distributed Systems, Information Retrieval, Cloud Security &amp; Enterprise Software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Core Triad: Polyglot Persistence | Access-Aware Vector RAG | Cryptographic Audit Chaining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Event Pipeline: Apache Kafka Microservices Architecture with Real-Time Notification Center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Validation: 21/21 Passing Automated Tests | Zero Authorization Leakage | ACID Row Locking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320040"/>
            <a:ext cx="82296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Executive Summary &amp; Core Platform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2563EB"/>
                </a:solidFill>
              </a:defRPr>
            </a:pPr>
            <a:r>
              <a:t>Unifying Document Intelligence, Workflow Integrity, and Enterprise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The Problem: Unstructured enterprise document silos (PDF/DOCX) create severe compliance risks, unauthorized data leakage, and manual approval bottlenecks.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Polyglot Persistence Engine: Relational PostgreSQL (ACID &amp; Audit), Flexible MongoDB (Metadata), and ChromaDB (Vector HNSW).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Access-Aware Vector RAG: Security boundary enforced directly within the vector retrieval layer—eliminating post-retrieval data leakage.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Serialized State Machine: Workflow transitions protected by PostgreSQL row-level locks (SELECT ... FOR UPDATE).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SHA-256 Audit Trail: Cryptographically chained ledger providing verifiable tamper detection.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Kafka Event Pipeline: Microservices-based decoupled notification routing for real-time workflow alerts.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320040"/>
            <a:ext cx="82296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Four-Review Engineering Progression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2563EB"/>
                </a:solidFill>
              </a:defRPr>
            </a:pPr>
            <a:r>
              <a:t>Systematic Evolution from Requirements to Production-Grade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Review 1 (Problem Formulation &amp; Requirements): Literature survey, industry motivation, functional &amp; non-functional specifications, user personas.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Review 2 (Architecture &amp; Modeling): Polyglot database schema design, multi-tenant RBAC security model, finite state machine formal grammar.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Review 3 (Core Implementation &amp; Security Proofs): Ingestion pipeline (PyMuPDF), Access-Aware RAG retrieval, cryptographic SHA-256 audit chain, concurrency row locking, 18/18 test suite.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Review 4 (Decoupling, Messaging &amp; Final Delivery): Microservices decomposition, Apache Kafka event-driven notifications, React Notification Center, 21/21 automated tests, 100% project completion.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320040"/>
            <a:ext cx="82296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[REVIEW 1] Problem Definition &amp; Industry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2563EB"/>
                </a:solidFill>
              </a:defRPr>
            </a:pPr>
            <a:r>
              <a:t>Critical Vulnerabilities in Modern Enterprise Document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Document Silos &amp; Discovery Deficits: Traditional keyword search fails on complex legal contracts, financial statements, and technical policies.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Catastrophic Data Leakage in AI Systems: Standard RAG pipelines retrieve confidential data into memory before filtering, exposing sensitive terms.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Concurrency Conflicts &amp; Workflow Desynchronization: Simultaneous reviews cause race conditions, resulting in contradictory approvals.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Vulnerability to Audit Tampering: Relational database logs are easily mutable by privileged database administrators without detection.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Objective: Design and build a zero-trust, access-aware platform that prevents unauthorized leakage while automating workflows.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320040"/>
            <a:ext cx="82296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[REVIEW 1] Literature Survey &amp; Comparative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2563EB"/>
                </a:solidFill>
              </a:defRPr>
            </a:pPr>
            <a:r>
              <a:t>Evaluating Traditional Systems vs. Proposed Access-Aware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Traditional DMS (SharePoint, Alfresco): Static schemas, no semantic vector retrieval, vulnerable to unauthorized manual overrides.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Standard GenAI/RAG (LangChain, LlamaIndex): Applies security filtering after top-k vector search—retrieves unauthorized chunks into RAM.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Our Proposed Innovation - Access-Aware RAG: Injects JWT tenant and department claims directly into ChromaDB query conditions.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Blockchain-Inspired Cryptographic Auditing: Implements SHA-256 block hashing where each event cryptographically signs the preceding event hash.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Row-Level ACID Locking: Utilizes explicit PostgreSQL locks to prevent race conditions during state transitions.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320040"/>
            <a:ext cx="82296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[REVIEW 1] System Requirements Specification (SRS)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2563EB"/>
                </a:solidFill>
              </a:defRPr>
            </a:pPr>
            <a:r>
              <a:t>Detailed Functional and Non-Functional Engineering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Functional Requirement 1: Multi-format document ingestion (PDF, DOCX) with text extraction, sliding window chunking, and embedding generation.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Functional Requirement 2: Multi-tenant Role-Based Access Control (RBAC) with granular department scoping (legal, finance, general).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Functional Requirement 3: Finite State Machine enforcing valid transitions (DRAFT -&gt; UNDER_REVIEW -&gt; APPROVED/REJECTED -&gt; ARCHIVED).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Functional Requirement 4: Access-Aware Semantic Search with exact source citations (document title, chunk ID, page number).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Functional Requirement 5: Real-time Kafka-driven notifications for pending reviews, approvals, and system alerts.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Non-Functional: Sub-200ms REST p95 latency, 0.00% data leakage across roles and tenants, sub-second vector search.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320040"/>
            <a:ext cx="82296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[REVIEW 2] System Architecture &amp; Microservices Decoupling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2563EB"/>
                </a:solidFill>
              </a:defRPr>
            </a:pPr>
            <a:r>
              <a:t>Modular, Scalable, Polyglot Cloud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React 18 SPA (Port 5173/3000): Vite, TypeScript, Tailwind CSS, Lucide icons, responsive dashboard, and Notification Center.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Core API Gateway &amp; Services (Port 8000): FastAPI backend handling auth, ingestion, workflow execution, RAG, and audit logging.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Kafka Event Pipeline: Producers emit structured events on topic 'document.workflow.events'.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Notification Microservice (Port 8001): Dedicated consumer group subscribing to workflow events and dispatching targeted alerts.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Polyglot Persistence Layer: PostgreSQL 16 (relational/ACID), MongoDB 7.0 (flexible metadata), ChromaDB (cosine HNSW index).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320040"/>
            <a:ext cx="82296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[REVIEW 2] Polyglot Persistence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2563EB"/>
                </a:solidFill>
              </a:defRPr>
            </a:pPr>
            <a:r>
              <a:t>Optimal Storage Technology for Each Enterprise Data Requirement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PostgreSQL 16: Users, hashed credentials, roles, document status, workflow history, SHA-256 audit ledger, and notifications.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MongoDB 7.0: Schema-free dynamic attributes (custom_fields, counterparty data, renewal terms, token statistics, tags).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ChromaDB Vector Store: 384-dimensional dense embeddings (all-MiniLM-L6-v2) indexed using Hierarchical Navigable Small World (HNSW).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Why Polyglot?: Relational DBs cannot scale arbitrary JSON metadata; NoSQL DBs lack ACID serializability; vector DBs lack relational joins.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Seamless Resilient Fallback: Native local support with embedded SQLite/Postgres and mock fallbacks ensures zero runtime failures.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320040"/>
            <a:ext cx="82296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[REVIEW 2] Multi-Tenant RBAC &amp; Department Scoping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2563EB"/>
                </a:solidFill>
              </a:defRPr>
            </a:pPr>
            <a:r>
              <a:t>Granular Authorization Matrix Enforced Across Storage Tiers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ADMIN Role: Scope ['*'] - Full global access across all departments (legal, finance, general); can execute all workflow transitions.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MANAGER Role: Scope ['finance', 'general'] - Can view, submit, and approve finance and general documents; strictly blocked from legal documents.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EMPLOYEE Role: Scope ['general'] - Baseline operational access; submit-only permissions (approvals/rejections rejected with 403 Forbidden).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TENANT-B USER: Multi-tenant isolation boundary - Sees 0 documents or notifications from tenant-default.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Cryptographic Verification: JWT Bearer tokens signed with HMAC-SHA256 containing user ID, role, tenant, and department scopes.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320040"/>
            <a:ext cx="82296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[REVIEW 2] Finite State Machine Formal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2563EB"/>
                </a:solidFill>
              </a:defRPr>
            </a:pPr>
            <a:r>
              <a:t>Strict Lifecycle Grammar with Guard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Permitted Transitions: DRAFT -&gt; UNDER_REVIEW -&gt; APPROVED / REJECTED -&gt; ARCHIVED.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Guard Conditions: Only users with MANAGER or ADMIN role matching the document's department can approve or reject.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Terminal States: REJECTED and ARCHIVED documents cannot undergo further state modifications.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Concurrency Protection: Every transition runs inside a serialized transaction utilizing SELECT ... FOR UPDATE row-level locks.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Audit Emission: Every transition automatically triggers both an immutable SHA-256 audit log and a Kafka workflow event.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320040"/>
            <a:ext cx="82296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11/22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[REVIEW 3] Document Ingestion &amp; Chunking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2563EB"/>
                </a:solidFill>
              </a:defRPr>
            </a:pPr>
            <a:r>
              <a:t>High-Fidelity Multi-Page Parsing &amp; Dense Vector Indexing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Multi-Engine Extraction: PyMuPDF extracts text, page boundaries, and token counts from PDFs; python-docx extracts DOCX structures.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Sliding Window Chunking: 200-word chunk size with 40-word overlap preserves semantic context across page boundaries.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Dense Embeddings: sentence-transformers/all-MiniLM-L6-v2 generates 384-dimensional dense vectors.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Metadata Indexing: Each chunk indexed in ChromaDB with document_id, document_title, tenant_id, department, and classification.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Performance: Sub-second ingestion for multi-page enterprise documents.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320040"/>
            <a:ext cx="82296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12/22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[REVIEW 3] Access-Aware RAG Engine (Zero Data Leakage)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2563EB"/>
                </a:solidFill>
              </a:defRPr>
            </a:pPr>
            <a:r>
              <a:t>Eliminating Vector-Layer Privacy Breaches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Vulnerability Identified: Standard vector search retrieves nearest neighbors without authorization, filtering afterwards.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Our Access-Aware Algorithm: Inject JWT tenant and department claims directly into ChromaDB vector retrieval query: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Filter Syntax: {'$and': [{'tenant_id': {'$eq': tenant}}, {'department': {'$in': user_departments}}]}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Empirical Result: Employee querying 'executive contract termination' receives 0 chunks and 0 sources.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Admin querying same question receives full severance details with exact citations (Document title, Page 2, Chunk ID).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Zero Authorization Leakage: 100% verified across adversarial test suites.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320040"/>
            <a:ext cx="82296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13/22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[REVIEW 3] Cryptographic SHA-256 Audit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2563EB"/>
                </a:solidFill>
              </a:defRPr>
            </a:pPr>
            <a:r>
              <a:t>Blockchain-Inspired Tamper-Evident Security Ledger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Chained Hash Construction: Hash_i = SHA-256(Hash_{i-1} + ActorID + Action + DocID + Timestamp + Metadata).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Genesis Block: Initialized with static zero-hash (0000...0000).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Logged Actions: DOCUMENT_UPLOADED, SUBMITTED_FOR_REVIEW, APPROVED, REJECTED, ARCHIVED, RAG_QUERY.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Tamper Verification API (/audit/verify): Iterates from genesis to head, recalculating every hash block.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Integrity Guarantee: Any manual modification or deletion breaks the hash chain and flags the exact record ID.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320040"/>
            <a:ext cx="82296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14/22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[REVIEW 3] Concurrency Control &amp; Row-Level Locking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2563EB"/>
                </a:solidFill>
              </a:defRPr>
            </a:pPr>
            <a:r>
              <a:t>Preventing Workflow Race Conditions Under High Concurrency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The Threat: Simultaneous approval attempts by two managers can create double transitions and corrupt audit records.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PostgreSQL Row Lock: SELECT * FROM documents WHERE id = :id FOR UPDATE;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Execution Behavior: First manager acquires lock, transitions document to APPROVED, commits transaction.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Second Manager Handling: Acquires lock after commit, detects document is already APPROVED, safely rejected with HTTP 409 Conflict.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Verified via automated concurrent test harness with 0 race condition failures.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320040"/>
            <a:ext cx="82296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15/22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[REVIEW 3] Benchmark Metrics &amp; Performance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2563EB"/>
                </a:solidFill>
              </a:defRPr>
            </a:pPr>
            <a:r>
              <a:t>Empirical Verification Under Sustained Workloads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REST API Average Latency: 5.81 ms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REST API 95th Percentile (p95): 113.02 ms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System Throughput: 160.25 requests/second under sustained concurrent load.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RAG Search Median Latency (p50): 921.62 ms (including embedding and context generation).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Security Metric: 0.00% cross-tenant and cross-department authorization leakage.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Reliability Metric: 100% successful tamper detection on corrupted audit blocks.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320040"/>
            <a:ext cx="82296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16/22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[REVIEW 4] Microservices Architecture &amp; Decoupling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2563EB"/>
                </a:solidFill>
              </a:defRPr>
            </a:pPr>
            <a:r>
              <a:t>Autonomous Services with Independent Service Contracts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Core Document Intelligence Service (Port 8000): Manages ingestion, relational metadata, vector RAG, and state transitions.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Notification Microservice (Port 8001): Subscribes to Kafka topic, processes events, persists notifications, and serves notification queries.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Frontend SPA (Port 5173 / 3000): React 18, Vite, TypeScript, Tailwind CSS with modular routing and real-time polling.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Decoupled Communication: Event-driven pub/sub via Apache Kafka ensures asynchronous, non-blocking workflow operations.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Container Orchestration: Multi-container docker-compose.yml defines services, networks, volumes, and healthchecks.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320040"/>
            <a:ext cx="82296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17/22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[REVIEW 4] Apache Kafka Event-Driven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2563EB"/>
                </a:solidFill>
              </a:defRPr>
            </a:pPr>
            <a:r>
              <a:t>Real-Time Enterprise Messaging for Workflow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Topic: 'document.workflow.events' handles all lifecycle and state changes.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Event Schema: event_id, event_type, document_id, document_title, department, from_status, to_status, actor_id, tenant_id, timestamp.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Consumer Group: 'enterprise-notification-service' with automatic offset tracking.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Dual-Mode Strategy: Connects to live Kafka cluster via aiokafka; automatically fails over to resilient in-memory event bus if Kafka is offline.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Zero Downtime: Guarantees 100% operational demo during battery-powered review environments.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320040"/>
            <a:ext cx="82296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18/22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[REVIEW 4] Real-Time Notification Center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2563EB"/>
                </a:solidFill>
              </a:defRPr>
            </a:pPr>
            <a:r>
              <a:t>Interactive Notification Hub in React SPA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Header Bell Icon: Displays real-time unread notification badge counter.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Interactive Dropdown Tray: Chronological event stream with color-coded status badges and department tags.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Direct Navigation: One-click deep links to navigate directly to the affected document workspace.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Read Management: Individual 'Mark as Read' and bulk 'Mark All as Read' actions.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Kafka Health Indicator: Visual badge confirming active event streaming pipeline.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320040"/>
            <a:ext cx="82296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19/22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[REVIEW 4] Full Automated Test Suite (21/21 Tests Passing)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2563EB"/>
                </a:solidFill>
              </a:defRPr>
            </a:pPr>
            <a:r>
              <a:t>Comprehensive Quality Assurance Across All Functional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Auth Tests (4): Valid login, invalid password rejection, valid JWT /me, invalid token rejection.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Document Tests (5): Valid PDF/DOCX ingestion, empty file rejection, invalid MIME rejection, RBAC department filtering.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Health &amp; Metrics Tests (2): Multi-store health check (/health), Prometheus-style metrics (/metrics).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Kafka &amp; Notification Tests (3): Event publishing on transitions, consumer RBAC routing, mark-as-read actions.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RAG Security Tests (3): Employee vs Admin confidentiality barrier, cross-tenant isolation, prompt injection defense.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Workflow Tests (3): Valid state transitions, invalid transition rejection, concurrent approval race protection.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320040"/>
            <a:ext cx="82296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20/22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[REVIEW 4] Live Demonstration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2563EB"/>
                </a:solidFill>
              </a:defRPr>
            </a:pPr>
            <a:r>
              <a:t>End-to-End Walkthrough Scenarios for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Demo 1 - One-Click Role Switcher: Switch between Admin, Manager, and Employee seamlessly on the login page.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Demo 2 - Document Ingestion: Upload an enterprise PDF, verify metadata in MongoDB, ACID record in Postgres, chunks in ChromaDB.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Demo 3 - Access-Aware RAG Barrier: Query confidential executive agreement; verify Employee blocked (0 sources), Admin granted.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Demo 4 - Workflow Transition &amp; Kafka Alert: Submit invoice, observe instant Kafka notification in Bell drawer, approve as Manager.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Demo 5 - Cryptographic Audit Verification: Verify 30+ blocks with unbroken SHA-256 chain on the audit dashboard.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320040"/>
            <a:ext cx="82296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21/22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Technical Challenges &amp; Engineering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2563EB"/>
                </a:solidFill>
              </a:defRPr>
            </a:pPr>
            <a:r>
              <a:t>Overcoming Distributed Systems &amp; Security Hurdles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Vector-Layer Privacy Leak: Solved by moving authorization checks from post-retrieval into the vector database query filter.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Approval Race Conditions: Solved by employing PostgreSQL SELECT ... FOR UPDATE row-level serialization locks.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Polyglot State Synchronization: Solved by atomic ingestion coordinating MongoDB IDs, PostgreSQL records, and ChromaDB embeddings.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Review Reliability (Offline/Battery): Solved by engineering dual-mode fallbacks for Kafka, PostgreSQL, and LLMs.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320040"/>
            <a:ext cx="82296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22/22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 &amp; Future Research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2563EB"/>
                </a:solidFill>
              </a:defRPr>
            </a:pPr>
            <a:r>
              <a:t>Project Completion Summary &amp; Enterprise Extensions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Conclusion: All requirements for Review 1, 2, 3, and 4 are 100% completed, verified, and running live.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Key Innovation: Access-Aware RAG + Cryptographic Audit Chaining establishes a new standard for secure enterprise document workflows.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Future Roadmap: Optical Character Recognition (OCR) for scanned PDFs; field-level redaction; distributed multi-region Kafka partitions.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 Thank You! Open for questions and live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